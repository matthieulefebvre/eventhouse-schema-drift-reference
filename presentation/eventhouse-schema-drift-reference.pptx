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BF2F4"/>
                </a:solidFill>
                <a:latin typeface="Aptos"/>
              </a:defRPr>
            </a:pPr>
            <a:r>
              <a:t>Handling schema drift in Eventhouse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880360"/>
            <a:ext cx="9875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AABEC6"/>
                </a:solidFill>
                <a:latin typeface="Aptos"/>
              </a:defRPr>
            </a:pPr>
            <a:r>
              <a:t>A reusable pattern for JSON that changes over time</a:t>
            </a:r>
            <a:br/>
            <a:r>
              <a:t>Accept new data without making downstream schemas unpredictable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97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PUBLIC REFERENCE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BF2F4"/>
                </a:solidFill>
                <a:latin typeface="Aptos"/>
              </a:defRPr>
            </a:pPr>
            <a:r>
              <a:t>Schema drift is more than a new field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51560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40080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A producer adds a measurement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A number starts arriving as text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A property disappears from some messages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A nested object changes shape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An array contains a different number of items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371600"/>
            <a:ext cx="3749039" cy="4526280"/>
          </a:xfrm>
          <a:prstGeom prst="rect">
            <a:avLst/>
          </a:prstGeom>
          <a:solidFill>
            <a:srgbClr val="1B2932"/>
          </a:solidFill>
          <a:ln>
            <a:solidFill>
              <a:srgbClr val="3C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66760" y="2834640"/>
            <a:ext cx="2651760" cy="10515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ADD | REMOVE | RETYPE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BF2F4"/>
                </a:solidFill>
                <a:latin typeface="Aptos"/>
              </a:defRPr>
            </a:pPr>
            <a:r>
              <a:t>Flexible input, stable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51560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40080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Producers need room to evolve their messages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Reports and APIs need columns they can rely on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Rejecting every change loses useful data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Accepting every key as a column creates an unstable contract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The design has to serve both sides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371600"/>
            <a:ext cx="3749039" cy="4526280"/>
          </a:xfrm>
          <a:prstGeom prst="rect">
            <a:avLst/>
          </a:prstGeom>
          <a:solidFill>
            <a:srgbClr val="1B2932"/>
          </a:solidFill>
          <a:ln>
            <a:solidFill>
              <a:srgbClr val="3C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66760" y="2834640"/>
            <a:ext cx="2651760" cy="10515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FLEXIBLE → STABLE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BF2F4"/>
                </a:solidFill>
                <a:latin typeface="Aptos"/>
              </a:defRPr>
            </a:pPr>
            <a:r>
              <a:t>The five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51560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40080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Keep the original message for investigation and replay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Separate the input shape from the consumer contract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Preserve unfamiliar values in residual JSON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Detect drift without stopping known-field processing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Promote a field only after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371600"/>
            <a:ext cx="3749039" cy="4526280"/>
          </a:xfrm>
          <a:prstGeom prst="rect">
            <a:avLst/>
          </a:prstGeom>
          <a:solidFill>
            <a:srgbClr val="1B2932"/>
          </a:solidFill>
          <a:ln>
            <a:solidFill>
              <a:srgbClr val="3C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66760" y="2834640"/>
            <a:ext cx="2651760" cy="1051560"/>
          </a:xfrm>
          <a:prstGeom prst="round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KEEP → DETECT →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BF2F4"/>
                </a:solidFill>
                <a:latin typeface="Aptos"/>
              </a:defRPr>
            </a:pPr>
            <a:r>
              <a:t>How the pieces fit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51560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40080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RawTelemetry is the recovery point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Stored functions create fixed typed rows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Update policies run those functions on arrival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A separate path records drift for review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Arrays are written as child rows</a:t>
            </a:r>
          </a:p>
        </p:txBody>
      </p:sp>
      <p:pic>
        <p:nvPicPr>
          <p:cNvPr id="6" name="Picture 5" descr="target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251960" cy="3611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5166360"/>
            <a:ext cx="3977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8577"/>
                </a:solidFill>
                <a:latin typeface="Aptos"/>
              </a:defRPr>
            </a:pPr>
            <a:r>
              <a:t>No routine telemetry export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BF2F4"/>
                </a:solidFill>
                <a:latin typeface="Aptos"/>
              </a:defRPr>
            </a:pPr>
            <a:r>
              <a:t>A new field arrives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51560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40080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Controller 01 is still reporting its usual measurements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Firmware version 2 adds serviceCountdownHours: 120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There is no matching target column yet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The value must survive without holding up the rest of the 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0" y="1417320"/>
            <a:ext cx="4069080" cy="4389120"/>
          </a:xfrm>
          <a:prstGeom prst="rect">
            <a:avLst/>
          </a:prstGeom>
          <a:solidFill>
            <a:srgbClr val="080F14"/>
          </a:solidFill>
          <a:ln>
            <a:solidFill>
              <a:srgbClr val="3C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228600"/>
          <a:lstStyle/>
          <a:p>
            <a:pPr algn="ctr">
              <a:defRPr sz="1400">
                <a:solidFill>
                  <a:srgbClr val="DCEEF1"/>
                </a:solidFill>
                <a:latin typeface="Cascadia Mono"/>
              </a:defRPr>
            </a:pPr>
            <a:r>
              <a:t>"sourceType":"controller",</a:t>
            </a:r>
            <a:br/>
            <a:r>
              <a:t>"schemaVersion":2,</a:t>
            </a:r>
            <a:br/>
            <a:r>
              <a:t>"telemetry": {</a:t>
            </a:r>
            <a:br/>
            <a:r>
              <a:t>  "controllerStatus":"running",</a:t>
            </a:r>
            <a:br/>
            <a:r>
              <a:t>  "engineHours":1251.0,</a:t>
            </a:r>
            <a:br/>
            <a:r>
              <a:t>  "fuelConsumption":8.2,</a:t>
            </a:r>
            <a:br/>
            <a:r>
              <a:t>  "serviceCountdownHours":120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BF2F4"/>
                </a:solidFill>
                <a:latin typeface="Aptos"/>
              </a:defRPr>
            </a:pPr>
            <a:r>
              <a:t>First, keep the whole payload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51560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40080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A few envelope values are mapped to columns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DropMappedFields leaves everything else in RawRecord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The landing table does not change when the payload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0" y="1417320"/>
            <a:ext cx="4069080" cy="4389120"/>
          </a:xfrm>
          <a:prstGeom prst="rect">
            <a:avLst/>
          </a:prstGeom>
          <a:solidFill>
            <a:srgbClr val="080F14"/>
          </a:solidFill>
          <a:ln>
            <a:solidFill>
              <a:srgbClr val="3C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228600"/>
          <a:lstStyle/>
          <a:p>
            <a:pPr algn="ctr">
              <a:defRPr sz="1400">
                <a:solidFill>
                  <a:srgbClr val="DCEEF1"/>
                </a:solidFill>
                <a:latin typeface="Cascadia Mono"/>
              </a:defRPr>
            </a:pPr>
            <a:r>
              <a:t>SourceType     controller</a:t>
            </a:r>
            <a:br/>
            <a:r>
              <a:t>SchemaVersion  2</a:t>
            </a:r>
            <a:br/>
            <a:r>
              <a:t>RawRecord      {</a:t>
            </a:r>
            <a:br/>
            <a:r>
              <a:t> "payload":{"telemetry":{</a:t>
            </a:r>
            <a:br/>
            <a:r>
              <a:t>  ...,</a:t>
            </a:r>
            <a:br/>
            <a:r>
              <a:t>  "serviceCountdownHours":120</a:t>
            </a:r>
            <a:br/>
            <a:r>
              <a:t> }}}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BF2F4"/>
                </a:solidFill>
                <a:latin typeface="Aptos"/>
              </a:defRPr>
            </a:pPr>
            <a:r>
              <a:t>Then write the fields we know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51560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40080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The transform casts each approved value explicitly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bag_remove_keys leaves the new property in ResidualTelemetry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Reports continue to see the same columns as before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0" y="1417320"/>
            <a:ext cx="4069080" cy="4389120"/>
          </a:xfrm>
          <a:prstGeom prst="rect">
            <a:avLst/>
          </a:prstGeom>
          <a:solidFill>
            <a:srgbClr val="080F14"/>
          </a:solidFill>
          <a:ln>
            <a:solidFill>
              <a:srgbClr val="3C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228600"/>
          <a:lstStyle/>
          <a:p>
            <a:pPr algn="ctr">
              <a:defRPr sz="1400">
                <a:solidFill>
                  <a:srgbClr val="DCEEF1"/>
                </a:solidFill>
                <a:latin typeface="Cascadia Mono"/>
              </a:defRPr>
            </a:pPr>
            <a:r>
              <a:t>ControllerStatus  running</a:t>
            </a:r>
            <a:br/>
            <a:r>
              <a:t>EngineHours       1251.0</a:t>
            </a:r>
            <a:br/>
            <a:r>
              <a:t>FuelConsumption   8.2</a:t>
            </a:r>
            <a:br/>
            <a:r>
              <a:t>ResidualTelemetry {</a:t>
            </a:r>
            <a:br/>
            <a:r>
              <a:t> "serviceCountdownHours":120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BF2F4"/>
                </a:solidFill>
                <a:latin typeface="Aptos"/>
              </a:defRPr>
            </a:pPr>
            <a:r>
              <a:t>Update policies do the routine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51560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40080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One policy writes the controller row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Another checks the same message for unknown fields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There is no notebook schedule or export watermark in between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0" y="1417320"/>
            <a:ext cx="4069080" cy="4389120"/>
          </a:xfrm>
          <a:prstGeom prst="rect">
            <a:avLst/>
          </a:prstGeom>
          <a:solidFill>
            <a:srgbClr val="080F14"/>
          </a:solidFill>
          <a:ln>
            <a:solidFill>
              <a:srgbClr val="3C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228600"/>
          <a:lstStyle/>
          <a:p>
            <a:pPr algn="ctr">
              <a:defRPr sz="1400">
                <a:solidFill>
                  <a:srgbClr val="DCEEF1"/>
                </a:solidFill>
                <a:latin typeface="Cascadia Mono"/>
              </a:defRPr>
            </a:pPr>
            <a:r>
              <a:t>{"Source":"RawTelemetry",</a:t>
            </a:r>
            <a:br/>
            <a:r>
              <a:t> "Query":"TransformControllerTelemetry()",</a:t>
            </a:r>
            <a:br/>
            <a:r>
              <a:t> "IsTransactional":false}</a:t>
            </a:r>
            <a:br/>
            <a:br/>
            <a:r>
              <a:t>Raw row  →  typed row</a:t>
            </a:r>
            <a:br/>
            <a:r>
              <a:t>         →  drift observation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BF2F4"/>
                </a:solidFill>
                <a:latin typeface="Aptos"/>
              </a:defRPr>
            </a:pPr>
            <a:r>
              <a:t>The new field goes onto the review 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51560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40080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bag_keys finds serviceCountdownHours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gettype records long; the sample value is 120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Normal controller processing carries on while the team reviews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0" y="1417320"/>
            <a:ext cx="4069080" cy="4389120"/>
          </a:xfrm>
          <a:prstGeom prst="rect">
            <a:avLst/>
          </a:prstGeom>
          <a:solidFill>
            <a:srgbClr val="080F14"/>
          </a:solidFill>
          <a:ln>
            <a:solidFill>
              <a:srgbClr val="3C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228600"/>
          <a:lstStyle/>
          <a:p>
            <a:pPr algn="ctr">
              <a:defRPr sz="1400">
                <a:solidFill>
                  <a:srgbClr val="DCEEF1"/>
                </a:solidFill>
                <a:latin typeface="Cascadia Mono"/>
              </a:defRPr>
            </a:pPr>
            <a:r>
              <a:t>SourceType    controller</a:t>
            </a:r>
            <a:br/>
            <a:r>
              <a:t>FieldPath     serviceCountdownHours</a:t>
            </a:r>
            <a:br/>
            <a:r>
              <a:t>ObservedType  long</a:t>
            </a:r>
            <a:br/>
            <a:r>
              <a:t>SampleValue   120</a:t>
            </a:r>
            <a:br/>
            <a:br/>
            <a:r>
              <a:t>bag_keys + mv-expand</a:t>
            </a:r>
            <a:br/>
            <a:r>
              <a:t>+ set_has_element + gettype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BF2F4"/>
                </a:solidFill>
                <a:latin typeface="Aptos"/>
              </a:defRPr>
            </a:pPr>
            <a:r>
              <a:t>Arrays are handled as rows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51560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40080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This cooling-unit message has two zones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mv-expand writes two child rows and keeps the zone IDs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A message with an empty zones array writes no child rows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0" y="1417320"/>
            <a:ext cx="4069080" cy="4389120"/>
          </a:xfrm>
          <a:prstGeom prst="rect">
            <a:avLst/>
          </a:prstGeom>
          <a:solidFill>
            <a:srgbClr val="080F14"/>
          </a:solidFill>
          <a:ln>
            <a:solidFill>
              <a:srgbClr val="3C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228600"/>
          <a:lstStyle/>
          <a:p>
            <a:pPr algn="ctr">
              <a:defRPr sz="1400">
                <a:solidFill>
                  <a:srgbClr val="DCEEF1"/>
                </a:solidFill>
                <a:latin typeface="Cascadia Mono"/>
              </a:defRPr>
            </a:pPr>
            <a:r>
              <a:t>Device      Zone  Mode     Return  Setpoint</a:t>
            </a:r>
            <a:br/>
            <a:r>
              <a:t>cooling-01  1     cool     2.8     2.0</a:t>
            </a:r>
            <a:br/>
            <a:r>
              <a:t>cooling-01  2     defrost  5.1     4.0</a:t>
            </a:r>
            <a:br/>
            <a:br/>
            <a:r>
              <a:t>| mv-expand Zone=Zones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BF2F4"/>
                </a:solidFill>
                <a:latin typeface="Aptos"/>
              </a:defRPr>
            </a:pPr>
            <a:r>
              <a:t>Promotion is a normal code change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51560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40080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The team agrees the name, meaning, unit, and type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The PR adds the column and updates the stored function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After a schema check, only the agreed history is replayed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0" y="1417320"/>
            <a:ext cx="4069080" cy="4389120"/>
          </a:xfrm>
          <a:prstGeom prst="rect">
            <a:avLst/>
          </a:prstGeom>
          <a:solidFill>
            <a:srgbClr val="080F14"/>
          </a:solidFill>
          <a:ln>
            <a:solidFill>
              <a:srgbClr val="3C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228600"/>
          <a:lstStyle/>
          <a:p>
            <a:pPr algn="ctr">
              <a:defRPr sz="1400">
                <a:solidFill>
                  <a:srgbClr val="DCEEF1"/>
                </a:solidFill>
                <a:latin typeface="Cascadia Mono"/>
              </a:defRPr>
            </a:pPr>
            <a:r>
              <a:t>BEFORE</a:t>
            </a:r>
            <a:br/>
            <a:r>
              <a:t>Residual {"serviceCountdownHours":120}</a:t>
            </a:r>
            <a:br/>
            <a:br/>
            <a:r>
              <a:t>AFTER</a:t>
            </a:r>
            <a:br/>
            <a:r>
              <a:t>ServiceCountdownHours  120.0</a:t>
            </a:r>
            <a:br/>
            <a:r>
              <a:t>Residual               {}</a:t>
            </a:r>
            <a:br/>
            <a:br/>
            <a:r>
              <a:t>.alter-merge + .set-or-append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BF2F4"/>
                </a:solidFill>
                <a:latin typeface="Aptos"/>
              </a:defRPr>
            </a:pPr>
            <a:r>
              <a:t>An alert starts the conversation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51560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40080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Do not alert for every message; aggregate first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Here, 10 observations in 15 minutes is enough to open a ticket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The ticket carries the type, sample, asset count, and time 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0" y="1417320"/>
            <a:ext cx="4069080" cy="4389120"/>
          </a:xfrm>
          <a:prstGeom prst="rect">
            <a:avLst/>
          </a:prstGeom>
          <a:solidFill>
            <a:srgbClr val="080F14"/>
          </a:solidFill>
          <a:ln>
            <a:solidFill>
              <a:srgbClr val="3C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228600"/>
          <a:lstStyle/>
          <a:p>
            <a:pPr algn="ctr">
              <a:defRPr sz="1400">
                <a:solidFill>
                  <a:srgbClr val="DCEEF1"/>
                </a:solidFill>
                <a:latin typeface="Cascadia Mono"/>
              </a:defRPr>
            </a:pPr>
            <a:r>
              <a:t>controller</a:t>
            </a:r>
            <a:br/>
            <a:r>
              <a:t>serviceCountdownHours</a:t>
            </a:r>
            <a:br/>
            <a:r>
              <a:t>Type       long</a:t>
            </a:r>
            <a:br/>
            <a:r>
              <a:t>Sample     120</a:t>
            </a:r>
            <a:br/>
            <a:r>
              <a:t>Assets     47</a:t>
            </a:r>
            <a:br/>
            <a:r>
              <a:t>Events     8,212</a:t>
            </a:r>
            <a:br/>
            <a:br/>
            <a:r>
              <a:t>→ Teams  → DATA-1842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BF2F4"/>
                </a:solidFill>
                <a:latin typeface="Aptos"/>
              </a:defRPr>
            </a:pPr>
            <a:r>
              <a:t>Who looks at the ticket?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51560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40080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Operations checks that ingestion is healthy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The source owner confirms the firmware change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The domain owner explains what the field means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Engineering profiles the data and prepares the change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Consumer and change owners sign off before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371600"/>
            <a:ext cx="3749039" cy="4526280"/>
          </a:xfrm>
          <a:prstGeom prst="rect">
            <a:avLst/>
          </a:prstGeom>
          <a:solidFill>
            <a:srgbClr val="1B2932"/>
          </a:solidFill>
          <a:ln>
            <a:solidFill>
              <a:srgbClr val="3C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66760" y="2834640"/>
            <a:ext cx="2651760" cy="10515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PROFILE → APPROVE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BF2F4"/>
                </a:solidFill>
                <a:latin typeface="Aptos"/>
              </a:defRPr>
            </a:pPr>
            <a:r>
              <a:t>What the on-call engineer sees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51560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40080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Is data arriving, and are typed tables keeping up?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Which new fields appeared after the latest release?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Are known fields failing type conversion?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How large is the residual backlog?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Are arrays producing an unexpected number of rows?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371600"/>
            <a:ext cx="3749039" cy="4526280"/>
          </a:xfrm>
          <a:prstGeom prst="rect">
            <a:avLst/>
          </a:prstGeom>
          <a:solidFill>
            <a:srgbClr val="1B2932"/>
          </a:solidFill>
          <a:ln>
            <a:solidFill>
              <a:srgbClr val="3C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66760" y="2834640"/>
            <a:ext cx="2651760" cy="1051560"/>
          </a:xfrm>
          <a:prstGeom prst="round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OPERATIONS 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BF2F4"/>
                </a:solidFill>
                <a:latin typeface="Aptos"/>
              </a:defRPr>
            </a:pPr>
            <a:r>
              <a:t>Not every field becomes a column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51560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40080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Promote it when the meaning is stable and consumers need it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Keep it in residual JSON when it is sparse or diagnostic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Reject or quarantine accidental, malformed, or sensitive data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Record the decision so the same ticket does not return tomorrow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371600"/>
            <a:ext cx="3749039" cy="4526280"/>
          </a:xfrm>
          <a:prstGeom prst="rect">
            <a:avLst/>
          </a:prstGeom>
          <a:solidFill>
            <a:srgbClr val="1B2932"/>
          </a:solidFill>
          <a:ln>
            <a:solidFill>
              <a:srgbClr val="3C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66760" y="2834640"/>
            <a:ext cx="2651760" cy="10515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3 DECISIONS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BF2F4"/>
                </a:solidFill>
                <a:latin typeface="Aptos"/>
              </a:defRPr>
            </a:pPr>
            <a:r>
              <a:t>Where this can simplify an existing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51560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40080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Some teams currently flatten JSON in Spark, pipelines, or application code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Keep that processing when it adds capabilities KQL does not provide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Move routine parsing and drift observation closer to ingestion when it reduces data movement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Compare both paths with representative volume before cutting 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371600"/>
            <a:ext cx="3749039" cy="4526280"/>
          </a:xfrm>
          <a:prstGeom prst="rect">
            <a:avLst/>
          </a:prstGeom>
          <a:solidFill>
            <a:srgbClr val="1B2932"/>
          </a:solidFill>
          <a:ln>
            <a:solidFill>
              <a:srgbClr val="3C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66760" y="2834640"/>
            <a:ext cx="2651760" cy="10515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MOVE ONLY WHAT FITS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BF2F4"/>
                </a:solidFill>
                <a:latin typeface="Aptos"/>
              </a:defRPr>
            </a:pPr>
            <a:r>
              <a:t>A sensible way to 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51560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40080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Shadow one source type before changing the current path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Measure ingestion cost, latency, array growth, and completeness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Exercise failure and replay while the blast radius is small</a:t>
            </a:r>
          </a:p>
          <a:p>
            <a:pPr>
              <a:spcAft>
                <a:spcPts val="1800"/>
              </a:spcAft>
              <a:defRPr sz="2200">
                <a:solidFill>
                  <a:srgbClr val="EBF2F4"/>
                </a:solidFill>
                <a:latin typeface="Aptos"/>
              </a:defRPr>
            </a:pPr>
            <a:r>
              <a:t>•  Change the existing process only after the numbers and outputs agree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371600"/>
            <a:ext cx="3749039" cy="4526280"/>
          </a:xfrm>
          <a:prstGeom prst="rect">
            <a:avLst/>
          </a:prstGeom>
          <a:solidFill>
            <a:srgbClr val="1B2932"/>
          </a:solidFill>
          <a:ln>
            <a:solidFill>
              <a:srgbClr val="3C5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66760" y="2834640"/>
            <a:ext cx="2651760" cy="10515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SHADOW → BENCHMARK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