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2530"/>
                </a:solidFill>
                <a:latin typeface="Aptos"/>
              </a:defRPr>
            </a:pPr>
            <a:r>
              <a:t>Move schema drift from Spark to Eventhouse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880360"/>
            <a:ext cx="98755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0">
                <a:solidFill>
                  <a:srgbClr val="52646D"/>
                </a:solidFill>
                <a:latin typeface="Aptos"/>
              </a:defRPr>
            </a:pPr>
            <a:r>
              <a:t>A step-by-step customer demo</a:t>
            </a:r>
            <a:br/>
            <a:r>
              <a:t>Prove stable schemas, preserved drift, and governed promotion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897880"/>
            <a:ext cx="4572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PUBLIC REFERENCE IMPLEMENTATION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Start with today's Spark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Telemetry lands in Eventhouse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notebook exports the batch through the Kusto connector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Spark infers JSON, flattens, compares schemas, and manages buffers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Delta writes require watermarks and merge orchestration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C42B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EXPORT → SPARK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Why the current loop is less efficient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Routine processing moves data out of its serving engine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Every run pays Spark startup and JSON inference cost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Parallel bulk reads compete for export capacity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Buffers, watermarks, and merge jobs increase operational state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MOVE + INFER + MERGE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What the demo builds instead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Raw ingestion remains the replay point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Update policies create stable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Unknown values remain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drift policy creates review evidence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Arrays become child rows</a:t>
            </a:r>
          </a:p>
        </p:txBody>
      </p:sp>
      <p:pic>
        <p:nvPicPr>
          <p:cNvPr id="6" name="Picture 5" descr="targe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251960" cy="36118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43800" y="5166360"/>
            <a:ext cx="397763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008577"/>
                </a:solidFill>
                <a:latin typeface="Aptos"/>
              </a:defRPr>
            </a:pPr>
            <a:r>
              <a:t>No routine telemetry export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The seven-step demo journey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1  Raw inbox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2  DropMappedFields mapping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3  Stable target tables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4  KQL transform functions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5  Automatic policies and drift detection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6  Ingest and prove</a:t>
            </a:r>
          </a:p>
          <a:p>
            <a:pPr>
              <a:spcAft>
                <a:spcPts val="1800"/>
              </a:spcAft>
              <a:defRPr sz="2000">
                <a:solidFill>
                  <a:srgbClr val="182530"/>
                </a:solidFill>
                <a:latin typeface="Aptos"/>
              </a:defRPr>
            </a:pPr>
            <a:r>
              <a:t>•  7  Promote and backfill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BUILD → PROVE → PROMOTE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Technique 1: preserve future fields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Map stable envelope values to columns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Keep the rest of the JSON in RawRecord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producer can add a field without changing the landing table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182530"/>
          </a:solidFill>
          <a:ln>
            <a:solidFill>
              <a:srgbClr val="384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{"Column":"RawRecord",</a:t>
            </a:r>
            <a:br/>
            <a:r>
              <a:t> "Properties":{"Path":"$",</a:t>
            </a:r>
            <a:br/>
            <a:r>
              <a:t> "Transform":"DropMappedFields"}}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Technique 2: guarantee a fixed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Name and cast every approved field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Remove known keys from the original bag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Anything new remains in ResidualTelemetry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182530"/>
          </a:solidFill>
          <a:ln>
            <a:solidFill>
              <a:srgbClr val="384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ControllerStatus=tostring(Telemetry.controllerStatus),</a:t>
            </a:r>
            <a:br/>
            <a:r>
              <a:t>EngineHours=toreal(Telemetry.engineHours),</a:t>
            </a:r>
            <a:br/>
            <a:r>
              <a:t>ResidualTelemetry=bag_remove_keys(</a:t>
            </a:r>
            <a:br/>
            <a:r>
              <a:t>  Telemetry, dynamic(['controllerStatus',</a:t>
            </a:r>
            <a:br/>
            <a:r>
              <a:t>  'engineHours', 'fuelConsumption']))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Technique 3: remove the scheduled export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An update policy reacts when raw data arrives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The policy calls the stored KQL function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IsTransactional:false keeps raw ingestion available for replay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182530"/>
          </a:solidFill>
          <a:ln>
            <a:solidFill>
              <a:srgbClr val="384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{"Source":"RawTelemetry",</a:t>
            </a:r>
            <a:br/>
            <a:r>
              <a:t> "Query":"TransformControllerTelemetry()",</a:t>
            </a:r>
            <a:br/>
            <a:r>
              <a:t> "IsTransactional":false}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Technique 4: detect keys and expand arrays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bag_keys lists fields that actually arrived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set_has_element compares them with the approved list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mv-expand turns unknown keys or array items into rows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182530"/>
          </a:solidFill>
          <a:ln>
            <a:solidFill>
              <a:srgbClr val="384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| mv-expand FieldName=bag_keys(Telemetry)</a:t>
            </a:r>
            <a:br/>
            <a:r>
              <a:t>| where not(set_has_element(KnownKeys, FieldName))</a:t>
            </a:r>
            <a:br/>
            <a:br/>
            <a:r>
              <a:t>| mv-expand Zone=Zones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Live proof: what the customer should see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Six raw messages route to three typed tables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 new controller field remains in residual JSON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Drift review identifies new paths and observed types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Two zones create two child rows; an empty array creates none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An incompatible value is still recoverable from RawRecord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85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DRIFT SURVIVES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Governed promotion stays simple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Add the approved column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Revise the stored function and residual key list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Compare function schema with the table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Replay only the approved raw interval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Handle appended versions explicitly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543800" y="1417320"/>
            <a:ext cx="4069080" cy="4389120"/>
          </a:xfrm>
          <a:prstGeom prst="rect">
            <a:avLst/>
          </a:prstGeom>
          <a:solidFill>
            <a:srgbClr val="182530"/>
          </a:solidFill>
          <a:ln>
            <a:solidFill>
              <a:srgbClr val="384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182880" tIns="228600"/>
          <a:lstStyle/>
          <a:p>
            <a:pPr algn="ctr">
              <a:defRPr sz="1400">
                <a:solidFill>
                  <a:srgbClr val="DCEEF1"/>
                </a:solidFill>
                <a:latin typeface="Cascadia Mono"/>
              </a:defRPr>
            </a:pPr>
            <a:r>
              <a:t>.alter-merge table ControllerTelemetry</a:t>
            </a:r>
            <a:br/>
            <a:r>
              <a:t>  (ServiceCountdownHours:real)</a:t>
            </a:r>
            <a:br/>
            <a:br/>
            <a:r>
              <a:t>TransformControllerTelemetry | getschema</a:t>
            </a:r>
            <a:br/>
            <a:br/>
            <a:r>
              <a:t>.set-or-append ControllerTelemetry &lt;| ...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789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82530"/>
                </a:solidFill>
                <a:latin typeface="Aptos"/>
              </a:defRPr>
            </a:pPr>
            <a:r>
              <a:t>Adopt with evidence, not promises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60704"/>
            <a:ext cx="1051560" cy="64008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155680" y="457200"/>
            <a:ext cx="457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078D4"/>
                </a:solidFill>
                <a:latin typeface="Aptos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417320"/>
            <a:ext cx="6400800" cy="4526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Shadow one source type first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Benchmark policy CPU, ingestion latency, and array amplification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Validate failure monitoring and bounded replay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Measure duplicate arrivals before choosing a lookback</a:t>
            </a:r>
          </a:p>
          <a:p>
            <a:pPr>
              <a:spcAft>
                <a:spcPts val="1800"/>
              </a:spcAft>
              <a:defRPr sz="2200">
                <a:solidFill>
                  <a:srgbClr val="182530"/>
                </a:solidFill>
                <a:latin typeface="Aptos"/>
              </a:defRPr>
            </a:pPr>
            <a:r>
              <a:t>•  Retire Spark bulk reads only after completeness gates pass</a:t>
            </a:r>
          </a:p>
        </p:txBody>
      </p:sp>
      <p:sp>
        <p:nvSpPr>
          <p:cNvPr id="6" name="Rectangle 5"/>
          <p:cNvSpPr/>
          <p:nvPr/>
        </p:nvSpPr>
        <p:spPr>
          <a:xfrm>
            <a:off x="7818120" y="1371600"/>
            <a:ext cx="3749039" cy="4526280"/>
          </a:xfrm>
          <a:prstGeom prst="rect">
            <a:avLst/>
          </a:prstGeom>
          <a:solidFill>
            <a:srgbClr val="EFF5F7"/>
          </a:solidFill>
          <a:ln>
            <a:solidFill>
              <a:srgbClr val="D3E0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366760" y="2834640"/>
            <a:ext cx="2651760" cy="105156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  <a:latin typeface="Aptos Display"/>
              </a:defRPr>
            </a:pPr>
            <a:r>
              <a:t>SHADOW → BENCHMARK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